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/>
  <p:notesSz cx="6954838" cy="93091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  <Relationship Id="rId12" Type="http://schemas.openxmlformats.org/officeDocument/2006/relationships/slide" Target="slides/slide7.xml"/>
  <Relationship Id="rId13" Type="http://schemas.openxmlformats.org/officeDocument/2006/relationships/slide" Target="slides/slide8.xml"/>
  <Relationship Id="rId14" Type="http://schemas.openxmlformats.org/officeDocument/2006/relationships/slide" Target="slides/slide9.xml"/>
  <Relationship Id="rId15" Type="http://schemas.openxmlformats.org/officeDocument/2006/relationships/slide" Target="slides/slide10.xml"/>
  <Relationship Id="rId16" Type="http://schemas.openxmlformats.org/officeDocument/2006/relationships/slide" Target="slides/slide11.xml"/>
  <Relationship Id="rId17" Type="http://schemas.openxmlformats.org/officeDocument/2006/relationships/slide" Target="slides/slide12.xml"/>
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0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F847664-738F-4189-9543-1A6778F0C5F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1150920" y="698400"/>
            <a:ext cx="4652640" cy="349056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95160" y="4421160"/>
            <a:ext cx="5563800" cy="4188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3a30fa"/>
                </a:solidFill>
                <a:latin typeface="Arial"/>
                <a:ea typeface="MS PGothic"/>
              </a:rPr>
              <a:t>MessMate: Digital Mess Management System. Progress 1 presentation by Aakash Rana, Aditya Antwal and Anubhav.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10"/>
          </p:nvPr>
        </p:nvSpPr>
        <p:spPr>
          <a:xfrm>
            <a:off x="3940200" y="8842320"/>
            <a:ext cx="301284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Calibri"/>
                <a:ea typeface="MS P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16B1FA-2ED3-4CAF-9051-2347129200BD}" type="slidenum">
              <a:rPr b="0" lang="en-US" sz="1200" spc="-1" strike="noStrike">
                <a:solidFill>
                  <a:schemeClr val="dk1"/>
                </a:solidFill>
                <a:latin typeface="Calibri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1150920" y="698400"/>
            <a:ext cx="4652640" cy="349056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95160" y="4421160"/>
            <a:ext cx="5563800" cy="4188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Outline: introduction, scope, methodology and design, progress, achievements, future plans and conclusion.</a:t>
            </a: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MS PGothic"/>
              </a:rPr>
              <a:t/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11"/>
          </p:nvPr>
        </p:nvSpPr>
        <p:spPr>
          <a:xfrm>
            <a:off x="3940200" y="8842320"/>
            <a:ext cx="3012840" cy="46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Calibri"/>
                <a:ea typeface="MS P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2D0859-484A-40B0-8724-4C32B105B14D}" type="slidenum">
              <a:rPr b="0" lang="en-US" sz="1200" spc="-1" strike="noStrike">
                <a:solidFill>
                  <a:schemeClr val="dk1"/>
                </a:solidFill>
                <a:latin typeface="Calibri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BAEB03-7453-4F11-BFD2-F47F46F7E2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61F653-112F-46F0-8B7D-DDF33A4978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1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MS PGothic"/>
            </a:endParaRPr>
          </a:p>
        </p:txBody>
      </p:sp>
      <p:sp>
        <p:nvSpPr>
          <p:cNvPr id="1" name="Rectangle 11"/>
          <p:cNvSpPr/>
          <p:nvPr/>
        </p:nvSpPr>
        <p:spPr>
          <a:xfrm flipV="1">
            <a:off x="0" y="6705000"/>
            <a:ext cx="9143640" cy="197640"/>
          </a:xfrm>
          <a:prstGeom prst="rect">
            <a:avLst/>
          </a:prstGeom>
          <a:solidFill>
            <a:srgbClr val="ff0000"/>
          </a:solidFill>
          <a:ln w="9525">
            <a:noFill/>
          </a:ln>
          <a:scene3d>
            <a:camera prst="orthographicFront"/>
            <a:lightRig dir="t" rig="threePt"/>
          </a:scene3d>
          <a:sp3d/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ＭＳ Ｐゴシック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0">
            <a:noFill/>
          </a:ln>
        </p:spPr>
      </p:pic>
      <p:grpSp>
        <p:nvGrpSpPr>
          <p:cNvPr id="4" name="Group 7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Rectangle 1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  <a:ea typeface="MS PGothic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" name="Rectangle 1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title style</a:t>
            </a:r>
            <a:endParaRPr b="0" lang="en-US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Calibri"/>
                <a:ea typeface="MS PGothic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  <a:ea typeface="MS PGothic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Calibri"/>
                <a:ea typeface="MS P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D9144C-72E1-4D3A-AC49-1BA0B743679B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MS PGothic"/>
            </a:endParaRPr>
          </a:p>
        </p:txBody>
      </p:sp>
      <p:sp>
        <p:nvSpPr>
          <p:cNvPr id="17" name="Rectangle 11"/>
          <p:cNvSpPr/>
          <p:nvPr/>
        </p:nvSpPr>
        <p:spPr>
          <a:xfrm flipV="1">
            <a:off x="0" y="6705000"/>
            <a:ext cx="9143640" cy="197640"/>
          </a:xfrm>
          <a:prstGeom prst="rect">
            <a:avLst/>
          </a:prstGeom>
          <a:solidFill>
            <a:srgbClr val="ff0000"/>
          </a:solidFill>
          <a:ln w="9525">
            <a:noFill/>
          </a:ln>
          <a:scene3d>
            <a:camera prst="orthographicFront"/>
            <a:lightRig dir="t" rig="threePt"/>
          </a:scene3d>
          <a:sp3d/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ＭＳ Ｐゴシック"/>
            </a:endParaRPr>
          </a:p>
        </p:txBody>
      </p:sp>
      <p:pic>
        <p:nvPicPr>
          <p:cNvPr id="18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0">
            <a:noFill/>
          </a:ln>
        </p:spPr>
      </p:pic>
      <p:pic>
        <p:nvPicPr>
          <p:cNvPr id="19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0">
            <a:noFill/>
          </a:ln>
        </p:spPr>
      </p:pic>
      <p:grpSp>
        <p:nvGrpSpPr>
          <p:cNvPr id="20" name="Group 7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Rectangle 1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  <a:ea typeface="MS PGothic"/>
              </a:endParaRPr>
            </a:p>
          </p:txBody>
        </p:sp>
        <p:pic>
          <p:nvPicPr>
            <p:cNvPr id="22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" name="Rectangle 1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24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0">
            <a:noFill/>
          </a:ln>
        </p:spPr>
      </p:pic>
      <p:pic>
        <p:nvPicPr>
          <p:cNvPr id="25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0">
            <a:noFill/>
          </a:ln>
        </p:spPr>
      </p:pic>
      <p:grpSp>
        <p:nvGrpSpPr>
          <p:cNvPr id="26" name="Group 7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7" name="Rectangle 1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  <a:ea typeface="MS PGothic"/>
              </a:endParaRPr>
            </a:p>
          </p:txBody>
        </p:sp>
        <p:pic>
          <p:nvPicPr>
            <p:cNvPr id="28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9" name="Rectangle 7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30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title style</a:t>
            </a:r>
            <a:endParaRPr b="0" lang="en-US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MS PGothic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MS PGothic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Calibri"/>
                <a:ea typeface="MS PGothic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  <a:ea typeface="MS PGothic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Calibri"/>
                <a:ea typeface="MS P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52DF97-9F1A-4722-AF2A-2F2CCA64C308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ctx.png"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dfd.png"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qr.png"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/>
          <p:cNvSpPr/>
          <p:nvPr/>
        </p:nvSpPr>
        <p:spPr>
          <a:xfrm>
            <a:off x="1219320" y="914400"/>
            <a:ext cx="6552720" cy="19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12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endParaRPr b="1" lang="en-US" sz="3200" spc="-1" strike="noStrike">
              <a:solidFill>
                <a:srgbClr val="3a30fa"/>
              </a:solidFill>
              <a:latin typeface="Calibri"/>
              <a:ea typeface="MS PGothic"/>
            </a:endParaRPr>
          </a:p>
        </p:txBody>
      </p:sp>
      <p:sp>
        <p:nvSpPr>
          <p:cNvPr id="45" name="Rectangle 2"/>
          <p:cNvSpPr/>
          <p:nvPr/>
        </p:nvSpPr>
        <p:spPr>
          <a:xfrm>
            <a:off x="0" y="868680"/>
            <a:ext cx="9143640" cy="246888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6862a"/>
                </a:solidFill>
                <a:latin typeface="Modern No. 20"/>
                <a:ea typeface="MS PGothic"/>
              </a:rPr>
              <a:t>Integrated Project -I</a:t>
            </a:r>
          </a:p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6862a"/>
                </a:solidFill>
                <a:latin typeface="Modern No. 20"/>
                <a:ea typeface="MS PGothic"/>
              </a:rPr>
              <a:t>Progress 1 Presentation</a:t>
            </a:r>
          </a:p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6862a"/>
                </a:solidFill>
                <a:latin typeface="Modern No. 20"/>
                <a:ea typeface="MS PGothic"/>
              </a:rPr>
              <a:t>On</a:t>
            </a:r>
          </a:p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ff0000"/>
                </a:solidFill>
                <a:latin typeface="Modern No. 20"/>
                <a:ea typeface="MS PGothic"/>
              </a:rPr>
              <a:t>MessMate: Digital Mess Management System</a:t>
            </a:r>
          </a:p>
        </p:txBody>
      </p:sp>
      <p:sp>
        <p:nvSpPr>
          <p:cNvPr id="46" name="TextBox 1"/>
          <p:cNvSpPr/>
          <p:nvPr/>
        </p:nvSpPr>
        <p:spPr>
          <a:xfrm>
            <a:off x="457200" y="4049640"/>
            <a:ext cx="8229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MS PGothic"/>
              </a:rPr>
              <a:t>Under Guidance of: Dr. [Guide Name] (Class Teacher)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7" name="Table 2"/>
          <p:cNvGraphicFramePr/>
          <p:nvPr/>
        </p:nvGraphicFramePr>
        <p:xfrm>
          <a:off x="658800" y="4572000"/>
          <a:ext cx="7827480" cy="1301400"/>
        </p:xfrm>
        <a:graphic>
          <a:graphicData uri="http://schemas.openxmlformats.org/drawingml/2006/table">
            <a:tbl>
              <a:tblPr/>
              <a:tblGrid>
                <a:gridCol w="2609160"/>
                <a:gridCol w="2609160"/>
                <a:gridCol w="2609160"/>
              </a:tblGrid>
              <a:tr h="433800">
                <a:tc>
                  <a:txBody>
                    <a:bodyPr tIns="45360" bIns="45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Team Member 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tIns="45360" bIns="45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Team Member 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tIns="45360" bIns="45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Team Member 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433800">
                <a:tc>
                  <a:txBody>
                    <a:bodyPr tIns="45360" bIns="453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Aakash Rana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tIns="45360" bIns="453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Aditya Antwal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tIns="45360" bIns="453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Anubhav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433800">
                <a:tc>
                  <a:txBody>
                    <a:bodyPr tIns="45360" bIns="453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2311981005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tIns="45360" bIns="453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2311981035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tIns="45360" bIns="453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2311981098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TextBox 1"/>
          <p:cNvSpPr/>
          <p:nvPr/>
        </p:nvSpPr>
        <p:spPr>
          <a:xfrm>
            <a:off x="457200" y="3440160"/>
            <a:ext cx="8229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MS PGothic"/>
              </a:rPr>
              <a:t>Presented by: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  <a:ea typeface="MS PGothic"/>
              </a:rPr>
              <a:t>Brief Outline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Title 1"/>
          <p:cNvSpPr/>
          <p:nvPr/>
        </p:nvSpPr>
        <p:spPr>
          <a:xfrm>
            <a:off x="152280" y="1219320"/>
            <a:ext cx="8686440" cy="5333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2" spcCol="0"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I. Introduction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A. Overview of the Project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B. Objectives and Goals</a:t>
            </a:r>
          </a:p>
          <a:p>
            <a:pPr>
              <a:lnSpc>
                <a:spcPct val="100000"/>
              </a:lnSpc>
            </a:pPr>
            <a:endParaRPr lang="en-US" sz="2000"/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II. Project Scope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A. Key Deliverables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B. Literature Survey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C. Gap Analysis</a:t>
            </a:r>
          </a:p>
          <a:p>
            <a:pPr>
              <a:lnSpc>
                <a:spcPct val="100000"/>
              </a:lnSpc>
            </a:pPr>
            <a:endParaRPr lang="en-US" sz="2000"/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III. Methodology and Design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A. Agile Timeline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B. Tech Stack and Requirements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C. System Design and QR Flow</a:t>
            </a:r>
          </a:p>
          <a:p>
            <a:pPr>
              <a:lnSpc>
                <a:spcPct val="100000"/>
              </a:lnSpc>
            </a:pPr>
            <a:endParaRPr lang="en-US" sz="2000"/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IV. Progress Overview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A. Completed Modules</a:t>
            </a:r>
          </a:p>
          <a:p>
            <a:pPr>
              <a:lnSpc>
                <a:spcPct val="100000"/>
              </a:lnSpc>
            </a:pPr>
            <a:endParaRPr lang="en-US" sz="2000"/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V. Achievements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A. Milestones Achieved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B. Test Results</a:t>
            </a:r>
          </a:p>
          <a:p>
            <a:pPr>
              <a:lnSpc>
                <a:spcPct val="100000"/>
              </a:lnSpc>
            </a:pPr>
            <a:endParaRPr lang="en-US" sz="2000"/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VI. Future Plans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A. Upcoming Tasks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B. Planned Enhancements</a:t>
            </a:r>
          </a:p>
          <a:p>
            <a:pPr>
              <a:lnSpc>
                <a:spcPct val="100000"/>
              </a:lnSpc>
            </a:pPr>
            <a:endParaRPr lang="en-US" sz="2000"/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VII. Conclusion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A. Summary of Progress</a:t>
            </a: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B. References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Introduction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MessMate is an end-to-end, web-based digital mess management and automation system for institutions such as Chitkara University. It replaces manual registers with centralized, role-based workflows and real-time analytics.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C42200"/>
                </a:solidFill>
                <a:latin typeface="Calibri"/>
                <a:cs typeface="Calibri"/>
              </a:rPr>
              <a:t>Problems with manual mess operations</a:t>
            </a:r>
          </a:p>
        </p:txBody>
      </p:sp>
      <p:sp>
        <p:nvSpPr>
          <p:cNvPr id="13" name="Card 13"/>
          <p:cNvSpPr/>
          <p:nvPr/>
        </p:nvSpPr>
        <p:spPr>
          <a:xfrm>
            <a:off x="457200" y="2697480"/>
            <a:ext cx="4023360" cy="123444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Paper wastage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Physical registers for entries, stock and billing.</a:t>
            </a:r>
          </a:p>
        </p:txBody>
      </p:sp>
      <p:sp>
        <p:nvSpPr>
          <p:cNvPr id="14" name="Card 14"/>
          <p:cNvSpPr/>
          <p:nvPr/>
        </p:nvSpPr>
        <p:spPr>
          <a:xfrm>
            <a:off x="4663440" y="2697480"/>
            <a:ext cx="4023360" cy="123444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Inaccurate forecasting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No prior headcount estimate before cooking starts.</a:t>
            </a:r>
          </a:p>
        </p:txBody>
      </p:sp>
      <p:sp>
        <p:nvSpPr>
          <p:cNvPr id="15" name="Card 15"/>
          <p:cNvSpPr/>
          <p:nvPr/>
        </p:nvSpPr>
        <p:spPr>
          <a:xfrm>
            <a:off x="457200" y="4069080"/>
            <a:ext cx="4023360" cy="123444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Food overproduction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Surplus meals are prepared and then discarded.</a:t>
            </a:r>
          </a:p>
        </p:txBody>
      </p:sp>
      <p:sp>
        <p:nvSpPr>
          <p:cNvPr id="16" name="Card 16"/>
          <p:cNvSpPr/>
          <p:nvPr/>
        </p:nvSpPr>
        <p:spPr>
          <a:xfrm>
            <a:off x="4663440" y="4069080"/>
            <a:ext cx="4023360" cy="123444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Slow complaints and billing gaps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Slow grievance handling and unaccounted billing discrepancies.</a:t>
            </a:r>
          </a:p>
        </p:txBody>
      </p:sp>
      <p:sp>
        <p:nvSpPr>
          <p:cNvPr id="17" name="Text 17"/>
          <p:cNvSpPr/>
          <p:nvPr/>
        </p:nvSpPr>
        <p:spPr>
          <a:xfrm>
            <a:off x="457200" y="5486400"/>
            <a:ext cx="8229600" cy="822960"/>
          </a:xfrm>
          <a:prstGeom prst="roundRect">
            <a:avLst>
              <a:gd name="adj" fmla="val 7000"/>
            </a:avLst>
          </a:prstGeom>
          <a:solidFill>
            <a:srgbClr val="C42200"/>
          </a:solidFill>
          <a:ln>
            <a:noFill/>
          </a:ln>
        </p:spPr>
        <p:txBody>
          <a:bodyPr wrap="square" lIns="182880" tIns="45720" rIns="18288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Goal: </a:t>
            </a: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minimize food wastage, enable precise meal planning, improve student satisfaction and automate administrative and financial processes.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Objectives &amp; Goals</a:t>
            </a:r>
          </a:p>
        </p:txBody>
      </p:sp>
      <p:sp>
        <p:nvSpPr>
          <p:cNvPr id="11" name="Number 11"/>
          <p:cNvSpPr/>
          <p:nvPr/>
        </p:nvSpPr>
        <p:spPr>
          <a:xfrm>
            <a:off x="457200" y="1170432"/>
            <a:ext cx="420624" cy="420624"/>
          </a:xfrm>
          <a:prstGeom prst="ellipse">
            <a:avLst/>
          </a:prstGeom>
          <a:solidFill>
            <a:srgbClr val="C422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05840" y="109728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Minimize food waste through dynamic booking and demand forecasting</a:t>
            </a:r>
          </a:p>
        </p:txBody>
      </p:sp>
      <p:sp>
        <p:nvSpPr>
          <p:cNvPr id="13" name="Number 13"/>
          <p:cNvSpPr/>
          <p:nvPr/>
        </p:nvSpPr>
        <p:spPr>
          <a:xfrm>
            <a:off x="457200" y="1828800"/>
            <a:ext cx="420624" cy="420624"/>
          </a:xfrm>
          <a:prstGeom prst="ellipse">
            <a:avLst/>
          </a:prstGeom>
          <a:solidFill>
            <a:srgbClr val="C422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005840" y="175564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Automate attendance with QR-based entry verification</a:t>
            </a:r>
          </a:p>
        </p:txBody>
      </p:sp>
      <p:sp>
        <p:nvSpPr>
          <p:cNvPr id="15" name="Number 15"/>
          <p:cNvSpPr/>
          <p:nvPr/>
        </p:nvSpPr>
        <p:spPr>
          <a:xfrm>
            <a:off x="457200" y="2487168"/>
            <a:ext cx="420624" cy="420624"/>
          </a:xfrm>
          <a:prstGeom prst="ellipse">
            <a:avLst/>
          </a:prstGeom>
          <a:solidFill>
            <a:srgbClr val="C422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05840" y="2414016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Bring supply-chain transparency through inventory tracking</a:t>
            </a:r>
          </a:p>
        </p:txBody>
      </p:sp>
      <p:sp>
        <p:nvSpPr>
          <p:cNvPr id="17" name="Number 17"/>
          <p:cNvSpPr/>
          <p:nvPr/>
        </p:nvSpPr>
        <p:spPr>
          <a:xfrm>
            <a:off x="457200" y="3145536"/>
            <a:ext cx="420624" cy="420624"/>
          </a:xfrm>
          <a:prstGeom prst="ellipse">
            <a:avLst/>
          </a:prstGeom>
          <a:solidFill>
            <a:srgbClr val="C422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05840" y="3072384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Ensure financial accountability with digital wallets</a:t>
            </a:r>
          </a:p>
        </p:txBody>
      </p:sp>
      <p:sp>
        <p:nvSpPr>
          <p:cNvPr id="19" name="Number 19"/>
          <p:cNvSpPr/>
          <p:nvPr/>
        </p:nvSpPr>
        <p:spPr>
          <a:xfrm>
            <a:off x="457200" y="3803904"/>
            <a:ext cx="420624" cy="420624"/>
          </a:xfrm>
          <a:prstGeom prst="ellipse">
            <a:avLst/>
          </a:prstGeom>
          <a:solidFill>
            <a:srgbClr val="C422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005840" y="3730752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Close the loop on complaints through ticketed grievance redressal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C42200"/>
                </a:solidFill>
                <a:latin typeface="Calibri"/>
                <a:cs typeface="Calibri"/>
              </a:rPr>
              <a:t>Four user roles</a:t>
            </a:r>
          </a:p>
        </p:txBody>
      </p:sp>
      <p:sp>
        <p:nvSpPr>
          <p:cNvPr id="22" name="Card 22"/>
          <p:cNvSpPr/>
          <p:nvPr/>
        </p:nvSpPr>
        <p:spPr>
          <a:xfrm>
            <a:off x="457200" y="4937760"/>
            <a:ext cx="1920240" cy="137160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Student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Meal booking, digital wallet, ratings and feedback</a:t>
            </a:r>
          </a:p>
        </p:txBody>
      </p:sp>
      <p:sp>
        <p:nvSpPr>
          <p:cNvPr id="23" name="Card 23"/>
          <p:cNvSpPr/>
          <p:nvPr/>
        </p:nvSpPr>
        <p:spPr>
          <a:xfrm>
            <a:off x="2560320" y="4937760"/>
            <a:ext cx="1920240" cy="137160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Mess Staff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QR entry scanning, duty allocation, live check-ins</a:t>
            </a:r>
          </a:p>
        </p:txBody>
      </p:sp>
      <p:sp>
        <p:nvSpPr>
          <p:cNvPr id="24" name="Card 24"/>
          <p:cNvSpPr/>
          <p:nvPr/>
        </p:nvSpPr>
        <p:spPr>
          <a:xfrm>
            <a:off x="4663440" y="4937760"/>
            <a:ext cx="1920240" cy="137160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Mess Manager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Stock logs, demand forecast, waste analytics</a:t>
            </a:r>
          </a:p>
        </p:txBody>
      </p:sp>
      <p:sp>
        <p:nvSpPr>
          <p:cNvPr id="25" name="Card 25"/>
          <p:cNvSpPr/>
          <p:nvPr/>
        </p:nvSpPr>
        <p:spPr>
          <a:xfrm>
            <a:off x="6766560" y="4937760"/>
            <a:ext cx="1920240" cy="137160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System Admin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User management, audit logs, RBAC control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Key Deliverables</a:t>
            </a:r>
          </a:p>
        </p:txBody>
      </p:sp>
      <p:sp>
        <p:nvSpPr>
          <p:cNvPr id="11" name="Card 11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Access and Dashboards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Role-based access control for four roles, each with a tailored dashboard of KPIs and actionable widgets.</a:t>
            </a:r>
          </a:p>
        </p:txBody>
      </p:sp>
      <p:sp>
        <p:nvSpPr>
          <p:cNvPr id="12" name="Card 12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Menus and Meal Booking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Weekly menus across Breakfast, Lunch, Snacks and Dinner; opt-in or opt-out before time cut-offs.</a:t>
            </a:r>
          </a:p>
        </p:txBody>
      </p:sp>
      <p:sp>
        <p:nvSpPr>
          <p:cNvPr id="13" name="Card 13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QR Attendance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Dynamic student QR codes verified instantly by staff, with real-time check-in tracking.</a:t>
            </a:r>
          </a:p>
        </p:txBody>
      </p:sp>
      <p:sp>
        <p:nvSpPr>
          <p:cNvPr id="14" name="Card 14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Inventory and Supply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Stock tracking with low-stock alerts, plus supplier directory and purchase logs.</a:t>
            </a:r>
          </a:p>
        </p:txBody>
      </p:sp>
      <p:sp>
        <p:nvSpPr>
          <p:cNvPr id="15" name="Card 15"/>
          <p:cNvSpPr/>
          <p:nvPr/>
        </p:nvSpPr>
        <p:spPr>
          <a:xfrm>
            <a:off x="457200" y="4663440"/>
            <a:ext cx="4023360" cy="16459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Feedback and Grievances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1 to 5 star meal ratings with comments; complaint tickets tracked from Pending to Resolved.</a:t>
            </a:r>
          </a:p>
        </p:txBody>
      </p:sp>
      <p:sp>
        <p:nvSpPr>
          <p:cNvPr id="16" name="Card 16"/>
          <p:cNvSpPr/>
          <p:nvPr/>
        </p:nvSpPr>
        <p:spPr>
          <a:xfrm>
            <a:off x="4663440" y="4663440"/>
            <a:ext cx="4023360" cy="16459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Analytics and Payments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Demand forecasting, waste logging, wallet ledger, invoicing and CSV, Excel or PDF reports.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Literature Survey</a:t>
            </a:r>
          </a:p>
        </p:txBody>
      </p:sp>
      <p:sp>
        <p:nvSpPr>
          <p:cNvPr id="11" name="Card 11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Manual ledger systems  |  Sharma &amp; Verma (2019)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Paper logs show a 15 to 20% accounting error margin and cause heavy food waste because there is no prior headcount forecasting.</a:t>
            </a:r>
          </a:p>
        </p:txBody>
      </p:sp>
      <p:sp>
        <p:nvSpPr>
          <p:cNvPr id="12" name="Card 12"/>
          <p:cNvSpPr/>
          <p:nvPr/>
        </p:nvSpPr>
        <p:spPr>
          <a:xfrm>
            <a:off x="457200" y="2468880"/>
            <a:ext cx="8229600" cy="123444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Standalone desktop applications  |  Kumar &amp; Singh (2020)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Offline database tools lack real-time student interaction, such as instant cancellation or live menu alerts.</a:t>
            </a:r>
          </a:p>
        </p:txBody>
      </p:sp>
      <p:sp>
        <p:nvSpPr>
          <p:cNvPr id="13" name="Card 13"/>
          <p:cNvSpPr/>
          <p:nvPr/>
        </p:nvSpPr>
        <p:spPr>
          <a:xfrm>
            <a:off x="457200" y="3840480"/>
            <a:ext cx="8229600" cy="123444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QR and RFID entry tools  |  Patel et al. (2021)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QR-based gates reduced entry queues, but lacked supply-chain management, financial wallets and waste analytics.</a:t>
            </a:r>
          </a:p>
        </p:txBody>
      </p:sp>
      <p:sp>
        <p:nvSpPr>
          <p:cNvPr id="14" name="Text 14"/>
          <p:cNvSpPr/>
          <p:nvPr/>
        </p:nvSpPr>
        <p:spPr>
          <a:xfrm>
            <a:off x="457200" y="5303520"/>
            <a:ext cx="8229600" cy="1005840"/>
          </a:xfrm>
          <a:prstGeom prst="roundRect">
            <a:avLst>
              <a:gd name="adj" fmla="val 7000"/>
            </a:avLst>
          </a:prstGeom>
          <a:solidFill>
            <a:srgbClr val="C42200"/>
          </a:solidFill>
          <a:ln>
            <a:noFill/>
          </a:ln>
        </p:spPr>
        <p:txBody>
          <a:bodyPr wrap="square" lIns="182880" tIns="45720" rIns="18288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Gap: </a:t>
            </a: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no unified ecosystem bridges students, kitchen staff and management. MessMate combines booking, QR attendance, inventory, wallets and forecasting on one platform.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Gap Analysis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65760" y="1143000"/>
          <a:ext cx="8412480" cy="4992624"/>
        </p:xfrm>
        <a:graphic>
          <a:graphicData uri="http://schemas.openxmlformats.org/drawingml/2006/table">
            <a:tbl>
              <a:tblPr firstRow="1" bandRow="1"/>
              <a:tblGrid>
                <a:gridCol w="1737360"/>
                <a:gridCol w="1920240"/>
                <a:gridCol w="1920240"/>
                <a:gridCol w="2834640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Traditional Mess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Existing Desktop Tools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MessMate (Proposed)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Meal Planning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Fixed / manual logs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Static digital menu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Dynamic booking and cut-off cancellation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DCC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Demand Forecasting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Static guesswork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Basic statistical average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Booking data with historical trend forecasting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DCC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Attendance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Manual signature registers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Basic RFID / barcode entry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Instant QR code verification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DCC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Feedback and Grievances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Physical register / suggestion box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Google Forms / e-mail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Integrated rating engine and ticket tracker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DCC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Inventory Tracking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Paper ledger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Basic Excel sheets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Automated low-stock alerts and supplier logs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DCC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Waste Management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Unmonitored disposal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Unmonitored disposal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Daily waste logging and sustainability analytics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DC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Methodology &amp; Timeline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Agile SDLC: iterative sprints over a 12-week schedule</a:t>
            </a:r>
          </a:p>
        </p:txBody>
      </p:sp>
      <p:sp>
        <p:nvSpPr>
          <p:cNvPr id="12" name="Weeks 12"/>
          <p:cNvSpPr/>
          <p:nvPr/>
        </p:nvSpPr>
        <p:spPr>
          <a:xfrm>
            <a:off x="457200" y="1554480"/>
            <a:ext cx="1463040" cy="804672"/>
          </a:xfrm>
          <a:prstGeom prst="roundRect">
            <a:avLst>
              <a:gd name="adj" fmla="val 7000"/>
            </a:avLst>
          </a:prstGeom>
          <a:solidFill>
            <a:srgbClr val="F6862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62626"/>
                </a:solidFill>
                <a:latin typeface="Calibri"/>
                <a:cs typeface="Calibri"/>
              </a:rPr>
              <a:t>Weeks 1-2</a:t>
            </a:r>
          </a:p>
        </p:txBody>
      </p:sp>
      <p:sp>
        <p:nvSpPr>
          <p:cNvPr id="13" name="Phase 13"/>
          <p:cNvSpPr/>
          <p:nvPr/>
        </p:nvSpPr>
        <p:spPr>
          <a:xfrm>
            <a:off x="2057400" y="1554480"/>
            <a:ext cx="6629400" cy="804672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45720" rIns="13716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Phase 1: Requirements and Architecture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Module specifications, workflow diagrams, ER diagram and normalized schemas</a:t>
            </a:r>
          </a:p>
        </p:txBody>
      </p:sp>
      <p:sp>
        <p:nvSpPr>
          <p:cNvPr id="14" name="Weeks 14"/>
          <p:cNvSpPr/>
          <p:nvPr/>
        </p:nvSpPr>
        <p:spPr>
          <a:xfrm>
            <a:off x="457200" y="2487168"/>
            <a:ext cx="1463040" cy="804672"/>
          </a:xfrm>
          <a:prstGeom prst="roundRect">
            <a:avLst>
              <a:gd name="adj" fmla="val 7000"/>
            </a:avLst>
          </a:prstGeom>
          <a:solidFill>
            <a:srgbClr val="F6862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62626"/>
                </a:solidFill>
                <a:latin typeface="Calibri"/>
                <a:cs typeface="Calibri"/>
              </a:rPr>
              <a:t>Weeks 3-4</a:t>
            </a:r>
          </a:p>
        </p:txBody>
      </p:sp>
      <p:sp>
        <p:nvSpPr>
          <p:cNvPr id="15" name="Phase 15"/>
          <p:cNvSpPr/>
          <p:nvPr/>
        </p:nvSpPr>
        <p:spPr>
          <a:xfrm>
            <a:off x="2057400" y="2487168"/>
            <a:ext cx="6629400" cy="804672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45720" rIns="13716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Phase 2: Backend and Authentication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Express server setup, REST routes and JWT authorization for multi-role access</a:t>
            </a:r>
          </a:p>
        </p:txBody>
      </p:sp>
      <p:sp>
        <p:nvSpPr>
          <p:cNvPr id="16" name="Weeks 16"/>
          <p:cNvSpPr/>
          <p:nvPr/>
        </p:nvSpPr>
        <p:spPr>
          <a:xfrm>
            <a:off x="457200" y="3419856"/>
            <a:ext cx="1463040" cy="804672"/>
          </a:xfrm>
          <a:prstGeom prst="roundRect">
            <a:avLst>
              <a:gd name="adj" fmla="val 7000"/>
            </a:avLst>
          </a:prstGeom>
          <a:solidFill>
            <a:srgbClr val="F6862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62626"/>
                </a:solidFill>
                <a:latin typeface="Calibri"/>
                <a:cs typeface="Calibri"/>
              </a:rPr>
              <a:t>Weeks 5-8</a:t>
            </a:r>
          </a:p>
        </p:txBody>
      </p:sp>
      <p:sp>
        <p:nvSpPr>
          <p:cNvPr id="17" name="Phase 17"/>
          <p:cNvSpPr/>
          <p:nvPr/>
        </p:nvSpPr>
        <p:spPr>
          <a:xfrm>
            <a:off x="2057400" y="3419856"/>
            <a:ext cx="6629400" cy="804672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45720" rIns="13716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Phase 3: Frontend and Core Features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Responsive dashboards, QR scanner, booking, inventory and wallet UI</a:t>
            </a:r>
          </a:p>
        </p:txBody>
      </p:sp>
      <p:sp>
        <p:nvSpPr>
          <p:cNvPr id="18" name="Weeks 18"/>
          <p:cNvSpPr/>
          <p:nvPr/>
        </p:nvSpPr>
        <p:spPr>
          <a:xfrm>
            <a:off x="457200" y="4352544"/>
            <a:ext cx="1463040" cy="804672"/>
          </a:xfrm>
          <a:prstGeom prst="roundRect">
            <a:avLst>
              <a:gd name="adj" fmla="val 7000"/>
            </a:avLst>
          </a:prstGeom>
          <a:solidFill>
            <a:srgbClr val="F6862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62626"/>
                </a:solidFill>
                <a:latin typeface="Calibri"/>
                <a:cs typeface="Calibri"/>
              </a:rPr>
              <a:t>Weeks 9-10</a:t>
            </a:r>
          </a:p>
        </p:txBody>
      </p:sp>
      <p:sp>
        <p:nvSpPr>
          <p:cNvPr id="19" name="Phase 19"/>
          <p:cNvSpPr/>
          <p:nvPr/>
        </p:nvSpPr>
        <p:spPr>
          <a:xfrm>
            <a:off x="2057400" y="4352544"/>
            <a:ext cx="6629400" cy="804672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45720" rIns="13716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Phase 4: Forecasting and Analytics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Operations reports, demand forecasting, global search and dashboards</a:t>
            </a:r>
          </a:p>
        </p:txBody>
      </p:sp>
      <p:sp>
        <p:nvSpPr>
          <p:cNvPr id="20" name="Weeks 20"/>
          <p:cNvSpPr/>
          <p:nvPr/>
        </p:nvSpPr>
        <p:spPr>
          <a:xfrm>
            <a:off x="457200" y="5285232"/>
            <a:ext cx="1463040" cy="804672"/>
          </a:xfrm>
          <a:prstGeom prst="roundRect">
            <a:avLst>
              <a:gd name="adj" fmla="val 7000"/>
            </a:avLst>
          </a:prstGeom>
          <a:solidFill>
            <a:srgbClr val="F6862A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62626"/>
                </a:solidFill>
                <a:latin typeface="Calibri"/>
                <a:cs typeface="Calibri"/>
              </a:rPr>
              <a:t>Weeks 11-12</a:t>
            </a:r>
          </a:p>
        </p:txBody>
      </p:sp>
      <p:sp>
        <p:nvSpPr>
          <p:cNvPr id="21" name="Phase 21"/>
          <p:cNvSpPr/>
          <p:nvPr/>
        </p:nvSpPr>
        <p:spPr>
          <a:xfrm>
            <a:off x="2057400" y="5285232"/>
            <a:ext cx="6629400" cy="804672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64592" tIns="45720" rIns="13716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Phase 5: Integration and Deployment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Unit and integration testing, cross-device checks, deployment and documentation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Tech Stack &amp; Requirements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65760" y="1097280"/>
          <a:ext cx="8412480" cy="2852928"/>
        </p:xfrm>
        <a:graphic>
          <a:graphicData uri="http://schemas.openxmlformats.org/drawingml/2006/table">
            <a:tbl>
              <a:tblPr firstRow="1" bandRow="1"/>
              <a:tblGrid>
                <a:gridCol w="2011680"/>
                <a:gridCol w="64008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Frontend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HTML5, CSS3, JavaScript (ES6+), responsive grid layouts with CSS variables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Backend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Node.js with Express.js (RESTful API server architecture)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Data and Storage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JSON-backed persistence with MongoDB / PostgreSQL support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Security and Auth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JSON Web Tokens (JWT) and BCrypt password hashing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Visualization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Custom JavaScript canvas chart engine for real-time dashboards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</a:tbl>
          </a:graphicData>
        </a:graphic>
      </p:graphicFrame>
      <p:sp>
        <p:nvSpPr>
          <p:cNvPr id="12" name="Requirements 12"/>
          <p:cNvSpPr/>
          <p:nvPr/>
        </p:nvSpPr>
        <p:spPr>
          <a:xfrm>
            <a:off x="457200" y="4206240"/>
            <a:ext cx="4023360" cy="21031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82880" tIns="91440" rIns="13716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Software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Windows 10/11, macOS or Linux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Node.js v18+ and Express.js v4.x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VS Code, Git and GitHub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Postman / Insomnia for API testing</a:t>
            </a:r>
          </a:p>
        </p:txBody>
      </p:sp>
      <p:sp>
        <p:nvSpPr>
          <p:cNvPr id="13" name="Requirements 13"/>
          <p:cNvSpPr/>
          <p:nvPr/>
        </p:nvSpPr>
        <p:spPr>
          <a:xfrm>
            <a:off x="4663440" y="4206240"/>
            <a:ext cx="4023360" cy="21031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82880" tIns="91440" rIns="13716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C42200"/>
                </a:solidFill>
                <a:latin typeface="Calibri"/>
                <a:cs typeface="Calibri"/>
              </a:rPr>
              <a:t>Hardware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Core i5 / Ryzen 5, 2.4 GHz or higher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8 GB RAM (16 GB recommended)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256 GB SSD, 10 GB free space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Full HD monitor; phones for QR tests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Context Diagram (Level 0)</a:t>
            </a:r>
          </a:p>
        </p:txBody>
      </p:sp>
      <p:pic>
        <p:nvPicPr>
          <p:cNvPr id="11" name="Picture 11" descr="Context diagram: four external entities exchanging data with the central MessMate platfo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684" y="1097280"/>
            <a:ext cx="5884632" cy="420624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2" name="Text 12"/>
          <p:cNvSpPr/>
          <p:nvPr/>
        </p:nvSpPr>
        <p:spPr>
          <a:xfrm>
            <a:off x="457200" y="5440680"/>
            <a:ext cx="8229600" cy="86868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82880" tIns="45720" rIns="18288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62626"/>
                </a:solidFill>
                <a:latin typeface="Calibri"/>
                <a:cs typeface="Calibri"/>
              </a:rPr>
              <a:t>One central platform serves four external entities (Students, Mess Staff, Mess Managers and System Admins), exchanging bookings, QR scans, inventory logs, forecasts and audit data.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Level 1 Data Flow Diagram</a:t>
            </a:r>
          </a:p>
        </p:txBody>
      </p:sp>
      <p:pic>
        <p:nvPicPr>
          <p:cNvPr id="11" name="Picture 11" descr="Level 1 DFD with five processes and four data stor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62" y="1097280"/>
            <a:ext cx="6329276" cy="420624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2" name="Text 12"/>
          <p:cNvSpPr/>
          <p:nvPr/>
        </p:nvSpPr>
        <p:spPr>
          <a:xfrm>
            <a:off x="457200" y="5440680"/>
            <a:ext cx="8229600" cy="86868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82880" tIns="45720" rIns="18288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62626"/>
                </a:solidFill>
                <a:latin typeface="Calibri"/>
                <a:cs typeface="Calibri"/>
              </a:rPr>
              <a:t>Five processes (Authentication, Booking, Attendance Validator, Inventory Controller, Predictive Analytics) read and write four data stores: User, Booking, Attendance and Inventory.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QR Verification Workflow</a:t>
            </a:r>
          </a:p>
        </p:txBody>
      </p:sp>
      <p:pic>
        <p:nvPicPr>
          <p:cNvPr id="11" name="Picture 11" descr="Flowchart of QR check-in valid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541855" cy="516636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2" name="Step card 12"/>
          <p:cNvSpPr/>
          <p:nvPr/>
        </p:nvSpPr>
        <p:spPr>
          <a:xfrm>
            <a:off x="5120640" y="1097280"/>
            <a:ext cx="3657600" cy="11887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13" name="Number 13"/>
          <p:cNvSpPr/>
          <p:nvPr/>
        </p:nvSpPr>
        <p:spPr>
          <a:xfrm>
            <a:off x="5257800" y="1481328"/>
            <a:ext cx="420624" cy="420624"/>
          </a:xfrm>
          <a:prstGeom prst="ellipse">
            <a:avLst/>
          </a:prstGeom>
          <a:solidFill>
            <a:srgbClr val="C422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760720" y="109728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73152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Student dashboard generates a dynamic QR tied to ID, session and date</a:t>
            </a:r>
          </a:p>
        </p:txBody>
      </p:sp>
      <p:sp>
        <p:nvSpPr>
          <p:cNvPr id="15" name="Step card 15"/>
          <p:cNvSpPr/>
          <p:nvPr/>
        </p:nvSpPr>
        <p:spPr>
          <a:xfrm>
            <a:off x="5120640" y="2423160"/>
            <a:ext cx="3657600" cy="11887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16" name="Number 16"/>
          <p:cNvSpPr/>
          <p:nvPr/>
        </p:nvSpPr>
        <p:spPr>
          <a:xfrm>
            <a:off x="5257800" y="2807208"/>
            <a:ext cx="420624" cy="420624"/>
          </a:xfrm>
          <a:prstGeom prst="ellipse">
            <a:avLst/>
          </a:prstGeom>
          <a:solidFill>
            <a:srgbClr val="C422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760720" y="242316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73152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Staff scan the code with a web camera or handheld device</a:t>
            </a:r>
          </a:p>
        </p:txBody>
      </p:sp>
      <p:sp>
        <p:nvSpPr>
          <p:cNvPr id="18" name="Step card 18"/>
          <p:cNvSpPr/>
          <p:nvPr/>
        </p:nvSpPr>
        <p:spPr>
          <a:xfrm>
            <a:off x="5120640" y="3749040"/>
            <a:ext cx="3657600" cy="11887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19" name="Number 19"/>
          <p:cNvSpPr/>
          <p:nvPr/>
        </p:nvSpPr>
        <p:spPr>
          <a:xfrm>
            <a:off x="5257800" y="4133088"/>
            <a:ext cx="420624" cy="420624"/>
          </a:xfrm>
          <a:prstGeom prst="ellipse">
            <a:avLst/>
          </a:prstGeom>
          <a:solidFill>
            <a:srgbClr val="C422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760720" y="374904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73152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System checks token validity, an active booking for the slot and no prior entry</a:t>
            </a:r>
          </a:p>
        </p:txBody>
      </p:sp>
      <p:sp>
        <p:nvSpPr>
          <p:cNvPr id="21" name="Step card 21"/>
          <p:cNvSpPr/>
          <p:nvPr/>
        </p:nvSpPr>
        <p:spPr>
          <a:xfrm>
            <a:off x="5120640" y="5074920"/>
            <a:ext cx="3657600" cy="11887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22" name="Number 22"/>
          <p:cNvSpPr/>
          <p:nvPr/>
        </p:nvSpPr>
        <p:spPr>
          <a:xfrm>
            <a:off x="5257800" y="5458968"/>
            <a:ext cx="420624" cy="420624"/>
          </a:xfrm>
          <a:prstGeom prst="ellipse">
            <a:avLst/>
          </a:prstGeom>
          <a:solidFill>
            <a:srgbClr val="C422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760720" y="507492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73152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Approved: meal marked CONSUMED and attendance updated live. Duplicate: visual and audible alert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Progress Overview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65760" y="1097280"/>
          <a:ext cx="8412480" cy="4608576"/>
        </p:xfrm>
        <a:graphic>
          <a:graphicData uri="http://schemas.openxmlformats.org/drawingml/2006/table">
            <a:tbl>
              <a:tblPr firstRow="1" bandRow="1"/>
              <a:tblGrid>
                <a:gridCol w="2286000"/>
                <a:gridCol w="4937760"/>
                <a:gridCol w="118872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Module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Core features implemented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Authentication and RBAC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JWT auth, password hashing, multi-role route guarding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Student Dashboard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Menu view, meal opt-in/opt-out, QR generator, wallet UI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Staff Dashboard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QR scanner simulation, entry validation, daily checklists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Manager Dashboard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Inventory tracker, demand forecasts, complaint resolver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Admin Dashboard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User role assignment, system auditing, RBAC rules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Grievance Module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Ticket creation, categorization, status progress updates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Operations Reports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Attendance analytics, wastage logging, PDF/Excel exports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Global Search Engine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Cross-module field search, multi-column filtering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12"/>
          <p:cNvSpPr txBox="1"/>
          <p:nvPr/>
        </p:nvSpPr>
        <p:spPr>
          <a:xfrm>
            <a:off x="365760" y="5806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C42200"/>
                </a:solidFill>
                <a:latin typeface="Calibri"/>
                <a:cs typeface="Calibri"/>
              </a:rPr>
              <a:t>All 8 planned modules are implemented as of the mid-term review.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Achievements</a:t>
            </a:r>
          </a:p>
        </p:txBody>
      </p:sp>
      <p:sp>
        <p:nvSpPr>
          <p:cNvPr id="11" name="Stat 11"/>
          <p:cNvSpPr/>
          <p:nvPr/>
        </p:nvSpPr>
        <p:spPr>
          <a:xfrm>
            <a:off x="365760" y="1097280"/>
            <a:ext cx="2651760" cy="132588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dirty="0">
                <a:solidFill>
                  <a:srgbClr val="C42200"/>
                </a:solidFill>
                <a:latin typeface="Calibri"/>
                <a:cs typeface="Calibri"/>
              </a:rPr>
              <a:t>8 / 8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modules completed</a:t>
            </a:r>
          </a:p>
        </p:txBody>
      </p:sp>
      <p:sp>
        <p:nvSpPr>
          <p:cNvPr id="12" name="Stat 12"/>
          <p:cNvSpPr/>
          <p:nvPr/>
        </p:nvSpPr>
        <p:spPr>
          <a:xfrm>
            <a:off x="3246120" y="1097280"/>
            <a:ext cx="2651760" cy="132588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dirty="0">
                <a:solidFill>
                  <a:srgbClr val="C42200"/>
                </a:solidFill>
                <a:latin typeface="Calibri"/>
                <a:cs typeface="Calibri"/>
              </a:rPr>
              <a:t>8 / 8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test cases passed</a:t>
            </a:r>
          </a:p>
        </p:txBody>
      </p:sp>
      <p:sp>
        <p:nvSpPr>
          <p:cNvPr id="13" name="Stat 13"/>
          <p:cNvSpPr/>
          <p:nvPr/>
        </p:nvSpPr>
        <p:spPr>
          <a:xfrm>
            <a:off x="6126480" y="1097280"/>
            <a:ext cx="2651760" cy="132588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dirty="0">
                <a:solidFill>
                  <a:srgbClr val="C42200"/>
                </a:solidFill>
                <a:latin typeface="Calibri"/>
                <a:cs typeface="Calibri"/>
              </a:rPr>
              <a:t>4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user roles secured with RBAC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365760" y="2697480"/>
          <a:ext cx="8412480" cy="3291840"/>
        </p:xfrm>
        <a:graphic>
          <a:graphicData uri="http://schemas.openxmlformats.org/drawingml/2006/table">
            <a:tbl>
              <a:tblPr firstRow="1" bandRow="1"/>
              <a:tblGrid>
                <a:gridCol w="731520"/>
                <a:gridCol w="1554480"/>
                <a:gridCol w="521208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Module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Scenario and expected outcome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422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TC01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Auth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Valid login issues a JWT and redirects to the dashboard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TC02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RBAC Security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Admin page without a JWT is denied and redirected to login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TC03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Meal Booking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Toggle before cut-off sets status to OPTED_IN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TC04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Cut-Off Engine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Cancelling lunch after 09:00 is disabled with a warning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TC05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Attendance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Valid QR scan verifies entry; status becomes CONSUMED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TC06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Attendance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Repeat scan for the same meal slot is rejected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TC07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Inventory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Stock below threshold shows a low-stock banner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1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TC08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Grievance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Ticket with image attachment is logged as Pending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1B7F3B"/>
                          </a:solidFill>
                          <a:latin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Future Plans</a:t>
            </a:r>
          </a:p>
        </p:txBody>
      </p:sp>
      <p:sp>
        <p:nvSpPr>
          <p:cNvPr id="11" name="Plan 11"/>
          <p:cNvSpPr/>
          <p:nvPr/>
        </p:nvSpPr>
        <p:spPr>
          <a:xfrm>
            <a:off x="457200" y="1097280"/>
            <a:ext cx="4023360" cy="402336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228600" tIns="182880" rIns="182880" bIns="9144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C42200"/>
                </a:solidFill>
                <a:latin typeface="Calibri"/>
                <a:cs typeface="Calibri"/>
              </a:rPr>
              <a:t>Upcoming Tasks (Weeks 11-12)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System integration across all modules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End-to-end and integration testing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Cross-device responsiveness verification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Final deployment and documentation of system workflows</a:t>
            </a:r>
          </a:p>
        </p:txBody>
      </p:sp>
      <p:sp>
        <p:nvSpPr>
          <p:cNvPr id="12" name="Plan 12"/>
          <p:cNvSpPr/>
          <p:nvPr/>
        </p:nvSpPr>
        <p:spPr>
          <a:xfrm>
            <a:off x="4663440" y="1097280"/>
            <a:ext cx="4023360" cy="402336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228600" tIns="182880" rIns="182880" bIns="9144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C42200"/>
                </a:solidFill>
                <a:latin typeface="Calibri"/>
                <a:cs typeface="Calibri"/>
              </a:rPr>
              <a:t>Planned Enhancements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Replace the prototype in-memory store with MongoDB / PostgreSQL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Connect physical QR scanners or RFID readers through the REST API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Online payments with automated receipts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Sustainability and carbon-footprint tracking</a:t>
            </a:r>
          </a:p>
        </p:txBody>
      </p:sp>
      <p:sp>
        <p:nvSpPr>
          <p:cNvPr id="13" name="Text 13"/>
          <p:cNvSpPr/>
          <p:nvPr/>
        </p:nvSpPr>
        <p:spPr>
          <a:xfrm>
            <a:off x="457200" y="534924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C42200"/>
          </a:solidFill>
          <a:ln>
            <a:noFill/>
          </a:ln>
        </p:spPr>
        <p:txBody>
          <a:bodyPr wrap="square" lIns="182880" tIns="45720" rIns="18288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Next milestone: </a:t>
            </a: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complete Phase 5 with full integration, testing and deployment of MessMate.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80880" y="0"/>
            <a:ext cx="609552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b="1" lang="en-US" sz="3000" strike="noStrike" dirty="0">
                <a:solidFill>
                  <a:schemeClr val="dk1"/>
                </a:solidFill>
                <a:latin typeface="Calibri"/>
                <a:ea typeface="MS PGothic"/>
              </a:rPr>
              <a:t>Conclusion &amp; References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C42200"/>
                </a:solidFill>
                <a:latin typeface="Calibri"/>
                <a:cs typeface="Calibri"/>
              </a:rPr>
              <a:t>Summary of progress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57200" y="146304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MessMate digitizes mess operations end to end for four user roles.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All 8 planned modules are complete and all 8 test cases pass.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Calibri"/>
                <a:cs typeface="Calibri"/>
              </a:rPr>
              <a:t>Remaining work: final integration, deployment and planned enhancements.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C42200"/>
                </a:solidFill>
                <a:latin typeface="Calibri"/>
                <a:cs typeface="Calibri"/>
              </a:rPr>
              <a:t>References</a:t>
            </a:r>
          </a:p>
        </p:txBody>
      </p:sp>
      <p:sp>
        <p:nvSpPr>
          <p:cNvPr id="14" name="Text 14"/>
          <p:cNvSpPr/>
          <p:nvPr/>
        </p:nvSpPr>
        <p:spPr>
          <a:xfrm>
            <a:off x="457200" y="3520440"/>
            <a:ext cx="8229600" cy="278892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>
            <a:noFill/>
          </a:ln>
        </p:spPr>
        <p:txBody>
          <a:bodyPr wrap="square" lIns="182880" tIns="73152" rIns="182880" bIns="73152" anchor="ctr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Sharma, A., &amp; Verma, R. (2019). Challenges in Hostel Administration and Mess Operations in Higher Education Institutions. J. Campus Administration &amp; Technology, 12(2), 45-58.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Kumar, P., &amp; Singh, S. (2020). Design and Development of Web-Based Smart Mess Management System. Int. J. Computer Applications, 178(14), 22-29.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Patel, K., Mehta, M., &amp; Shah, D. (2021). Automated Mess Access Control using QR Code Verification. IEEE Trans. Consumer Electronics &amp; Smart Campus, 67(3), 201-209.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Documentation: Express.js (expressjs.com), Node.js (nodejs.org), MongoDB (mongodb.com/docs), PostgreSQL (postgresql.org/docs).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37387</TotalTime>
  <Application>LibreOffice/24.2.7.2$Linux_X86_64 LibreOffice_project/420$Build-2</Application>
  <AppVersion>15.0000</AppVersion>
  <Words>161</Words>
  <Paragraphs>54</Paragraphs>
  <Company>CCC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  <dc:description/>
  <dc:language>en-US</dc:language>
  <cp:lastModifiedBy>anaysinha77@outlook.com</cp:lastModifiedBy>
  <cp:lastPrinted>2023-05-20T08:44:05Z</cp:lastPrinted>
  <dcterms:modified xsi:type="dcterms:W3CDTF">2026-09-29T08:08:20Z</dcterms:modified>
  <cp:revision>1773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</vt:r8>
  </property>
  <property fmtid="{D5CDD505-2E9C-101B-9397-08002B2CF9AE}" pid="3" name="PresentationFormat">
    <vt:lpwstr>On-screen Show (4:3)</vt:lpwstr>
  </property>
  <property fmtid="{D5CDD505-2E9C-101B-9397-08002B2CF9AE}" pid="4" name="Slides">
    <vt:r8>4</vt:r8>
  </property>
</Properties>
</file>